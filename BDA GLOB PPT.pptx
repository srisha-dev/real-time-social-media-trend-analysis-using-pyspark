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DM Sans" charset="1" panose="00000000000000000000"/>
      <p:regular r:id="rId18"/>
    </p:embeddedFont>
    <p:embeddedFont>
      <p:font typeface="Readex Pro Semi-Bold" charset="1" panose="00000000000000000000"/>
      <p:regular r:id="rId19"/>
    </p:embeddedFont>
    <p:embeddedFont>
      <p:font typeface="Readex Pro Bold" charset="1" panose="00000000000000000000"/>
      <p:regular r:id="rId20"/>
    </p:embeddedFont>
    <p:embeddedFont>
      <p:font typeface="DM Sans Bold" charset="1" panose="00000000000000000000"/>
      <p:regular r:id="rId21"/>
    </p:embeddedFont>
    <p:embeddedFont>
      <p:font typeface="Canva Sans Bold" charset="1" panose="020B0803030501040103"/>
      <p:regular r:id="rId22"/>
    </p:embeddedFont>
    <p:embeddedFont>
      <p:font typeface="Canva Sans" charset="1" panose="020B05030305010401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false" rot="0">
            <a:off x="-1014412" y="5143500"/>
            <a:ext cx="5448300" cy="5448300"/>
          </a:xfrm>
          <a:custGeom>
            <a:avLst/>
            <a:gdLst/>
            <a:ahLst/>
            <a:cxnLst/>
            <a:rect r="r" b="b" t="t" l="l"/>
            <a:pathLst>
              <a:path h="5448300" w="5448300">
                <a:moveTo>
                  <a:pt x="0" y="0"/>
                </a:moveTo>
                <a:lnTo>
                  <a:pt x="5448300" y="0"/>
                </a:lnTo>
                <a:lnTo>
                  <a:pt x="5448300" y="5448300"/>
                </a:lnTo>
                <a:lnTo>
                  <a:pt x="0" y="5448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854112" y="-304800"/>
            <a:ext cx="5448300" cy="5448300"/>
          </a:xfrm>
          <a:custGeom>
            <a:avLst/>
            <a:gdLst/>
            <a:ahLst/>
            <a:cxnLst/>
            <a:rect r="r" b="b" t="t" l="l"/>
            <a:pathLst>
              <a:path h="5448300" w="5448300">
                <a:moveTo>
                  <a:pt x="5448300" y="5448300"/>
                </a:moveTo>
                <a:lnTo>
                  <a:pt x="0" y="5448300"/>
                </a:lnTo>
                <a:lnTo>
                  <a:pt x="0" y="0"/>
                </a:lnTo>
                <a:lnTo>
                  <a:pt x="5448300" y="0"/>
                </a:lnTo>
                <a:lnTo>
                  <a:pt x="544830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10206" y="604765"/>
            <a:ext cx="836989" cy="2209944"/>
          </a:xfrm>
          <a:custGeom>
            <a:avLst/>
            <a:gdLst/>
            <a:ahLst/>
            <a:cxnLst/>
            <a:rect r="r" b="b" t="t" l="l"/>
            <a:pathLst>
              <a:path h="2209944" w="836989">
                <a:moveTo>
                  <a:pt x="0" y="0"/>
                </a:moveTo>
                <a:lnTo>
                  <a:pt x="836988" y="0"/>
                </a:lnTo>
                <a:lnTo>
                  <a:pt x="836988" y="2209945"/>
                </a:lnTo>
                <a:lnTo>
                  <a:pt x="0" y="22099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840806" y="7472290"/>
            <a:ext cx="836989" cy="2209944"/>
          </a:xfrm>
          <a:custGeom>
            <a:avLst/>
            <a:gdLst/>
            <a:ahLst/>
            <a:cxnLst/>
            <a:rect r="r" b="b" t="t" l="l"/>
            <a:pathLst>
              <a:path h="2209944" w="836989">
                <a:moveTo>
                  <a:pt x="0" y="0"/>
                </a:moveTo>
                <a:lnTo>
                  <a:pt x="836988" y="0"/>
                </a:lnTo>
                <a:lnTo>
                  <a:pt x="836988" y="2209945"/>
                </a:lnTo>
                <a:lnTo>
                  <a:pt x="0" y="22099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431888" y="5875778"/>
            <a:ext cx="11424223" cy="1225550"/>
          </a:xfrm>
          <a:prstGeom prst="rect">
            <a:avLst/>
          </a:prstGeom>
        </p:spPr>
        <p:txBody>
          <a:bodyPr anchor="t" rtlCol="false" tIns="0" lIns="0" bIns="0" rIns="0">
            <a:spAutoFit/>
          </a:bodyPr>
          <a:lstStyle/>
          <a:p>
            <a:pPr algn="ctr">
              <a:lnSpc>
                <a:spcPts val="4900"/>
              </a:lnSpc>
            </a:pPr>
            <a:r>
              <a:rPr lang="en-US" sz="3500">
                <a:solidFill>
                  <a:srgbClr val="002B58"/>
                </a:solidFill>
                <a:latin typeface="DM Sans"/>
                <a:ea typeface="DM Sans"/>
                <a:cs typeface="DM Sans"/>
                <a:sym typeface="DM Sans"/>
              </a:rPr>
              <a:t>Arshiya Tarannum  (23241A6703)</a:t>
            </a:r>
          </a:p>
          <a:p>
            <a:pPr algn="ctr">
              <a:lnSpc>
                <a:spcPts val="4900"/>
              </a:lnSpc>
            </a:pPr>
            <a:r>
              <a:rPr lang="en-US" sz="3500">
                <a:solidFill>
                  <a:srgbClr val="002B58"/>
                </a:solidFill>
                <a:latin typeface="DM Sans"/>
                <a:ea typeface="DM Sans"/>
                <a:cs typeface="DM Sans"/>
                <a:sym typeface="DM Sans"/>
              </a:rPr>
              <a:t>Srisha Koppula        (23241A6736)</a:t>
            </a:r>
          </a:p>
        </p:txBody>
      </p:sp>
      <p:sp>
        <p:nvSpPr>
          <p:cNvPr name="TextBox 7" id="7"/>
          <p:cNvSpPr txBox="true"/>
          <p:nvPr/>
        </p:nvSpPr>
        <p:spPr>
          <a:xfrm rot="0">
            <a:off x="2470972" y="3394075"/>
            <a:ext cx="13346055" cy="1749425"/>
          </a:xfrm>
          <a:prstGeom prst="rect">
            <a:avLst/>
          </a:prstGeom>
        </p:spPr>
        <p:txBody>
          <a:bodyPr anchor="t" rtlCol="false" tIns="0" lIns="0" bIns="0" rIns="0">
            <a:spAutoFit/>
          </a:bodyPr>
          <a:lstStyle/>
          <a:p>
            <a:pPr algn="ctr">
              <a:lnSpc>
                <a:spcPts val="7000"/>
              </a:lnSpc>
            </a:pPr>
            <a:r>
              <a:rPr lang="en-US" b="true" sz="5000">
                <a:solidFill>
                  <a:srgbClr val="002B58"/>
                </a:solidFill>
                <a:latin typeface="Readex Pro Semi-Bold"/>
                <a:ea typeface="Readex Pro Semi-Bold"/>
                <a:cs typeface="Readex Pro Semi-Bold"/>
                <a:sym typeface="Readex Pro Semi-Bold"/>
              </a:rPr>
              <a:t>REAL-TIME SOCIAL MEDIA TREND ANALYSIS USING PYSPARK</a:t>
            </a:r>
          </a:p>
        </p:txBody>
      </p:sp>
      <p:sp>
        <p:nvSpPr>
          <p:cNvPr name="TextBox 8" id="8"/>
          <p:cNvSpPr txBox="true"/>
          <p:nvPr/>
        </p:nvSpPr>
        <p:spPr>
          <a:xfrm rot="0">
            <a:off x="2470972" y="1515433"/>
            <a:ext cx="13346055" cy="903917"/>
          </a:xfrm>
          <a:prstGeom prst="rect">
            <a:avLst/>
          </a:prstGeom>
        </p:spPr>
        <p:txBody>
          <a:bodyPr anchor="t" rtlCol="false" tIns="0" lIns="0" bIns="0" rIns="0">
            <a:spAutoFit/>
          </a:bodyPr>
          <a:lstStyle/>
          <a:p>
            <a:pPr algn="ctr">
              <a:lnSpc>
                <a:spcPts val="7402"/>
              </a:lnSpc>
            </a:pPr>
            <a:r>
              <a:rPr lang="en-US" b="true" sz="5287">
                <a:solidFill>
                  <a:srgbClr val="000000"/>
                </a:solidFill>
                <a:latin typeface="Readex Pro Semi-Bold"/>
                <a:ea typeface="Readex Pro Semi-Bold"/>
                <a:cs typeface="Readex Pro Semi-Bold"/>
                <a:sym typeface="Readex Pro Semi-Bold"/>
              </a:rPr>
              <a:t>BIG DATA ANALYTICS LAB</a:t>
            </a:r>
          </a:p>
        </p:txBody>
      </p:sp>
      <p:sp>
        <p:nvSpPr>
          <p:cNvPr name="TextBox 9" id="9"/>
          <p:cNvSpPr txBox="true"/>
          <p:nvPr/>
        </p:nvSpPr>
        <p:spPr>
          <a:xfrm rot="0">
            <a:off x="3431888" y="8499865"/>
            <a:ext cx="12385139" cy="1182370"/>
          </a:xfrm>
          <a:prstGeom prst="rect">
            <a:avLst/>
          </a:prstGeom>
        </p:spPr>
        <p:txBody>
          <a:bodyPr anchor="t" rtlCol="false" tIns="0" lIns="0" bIns="0" rIns="0">
            <a:spAutoFit/>
          </a:bodyPr>
          <a:lstStyle/>
          <a:p>
            <a:pPr algn="ctr">
              <a:lnSpc>
                <a:spcPts val="3359"/>
              </a:lnSpc>
            </a:pPr>
            <a:r>
              <a:rPr lang="en-US" sz="2400">
                <a:solidFill>
                  <a:srgbClr val="000000"/>
                </a:solidFill>
                <a:latin typeface="DM Sans"/>
                <a:ea typeface="DM Sans"/>
                <a:cs typeface="DM Sans"/>
                <a:sym typeface="DM Sans"/>
              </a:rPr>
              <a:t>Under the guidance of Dr. M. Kiran Kumar &amp; Ms. S. Srilatha | Dept. of CSE (Data Science) | GRIET, Hyderabad</a:t>
            </a:r>
          </a:p>
          <a:p>
            <a:pPr algn="ctr">
              <a:lnSpc>
                <a:spcPts val="280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1014412"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854112" y="5143500"/>
            <a:ext cx="5448300" cy="5448300"/>
          </a:xfrm>
          <a:custGeom>
            <a:avLst/>
            <a:gdLst/>
            <a:ahLst/>
            <a:cxnLst/>
            <a:rect r="r" b="b" t="t" l="l"/>
            <a:pathLst>
              <a:path h="5448300" w="5448300">
                <a:moveTo>
                  <a:pt x="5448300" y="0"/>
                </a:moveTo>
                <a:lnTo>
                  <a:pt x="0" y="0"/>
                </a:lnTo>
                <a:lnTo>
                  <a:pt x="0" y="5448300"/>
                </a:lnTo>
                <a:lnTo>
                  <a:pt x="5448300" y="5448300"/>
                </a:lnTo>
                <a:lnTo>
                  <a:pt x="5448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709738" y="3606981"/>
            <a:ext cx="15233638" cy="4246187"/>
          </a:xfrm>
          <a:prstGeom prst="rect">
            <a:avLst/>
          </a:prstGeom>
        </p:spPr>
        <p:txBody>
          <a:bodyPr anchor="t" rtlCol="false" tIns="0" lIns="0" bIns="0" rIns="0">
            <a:spAutoFit/>
          </a:bodyPr>
          <a:lstStyle/>
          <a:p>
            <a:pPr algn="just">
              <a:lnSpc>
                <a:spcPts val="4202"/>
              </a:lnSpc>
            </a:pPr>
            <a:r>
              <a:rPr lang="en-US" sz="2801">
                <a:solidFill>
                  <a:srgbClr val="002B58"/>
                </a:solidFill>
                <a:latin typeface="DM Sans"/>
                <a:ea typeface="DM Sans"/>
                <a:cs typeface="DM Sans"/>
                <a:sym typeface="DM Sans"/>
              </a:rPr>
              <a:t>Social media platforms generate massive amounts of real-time, unstructured data every second, reflecting user opinions, trends, and interactions. Analyzing this continuous stream of data to extract meaningful insights such as trending topics and public sentiment is challenging using traditional data processing methods. Existing approaches often fail to handle the high volume and velocity of data efficiently. Therefore, there is a need for a scalable and efficient system that can process, analyze, and provide real-time insights from social media data for better decision-making.</a:t>
            </a:r>
          </a:p>
          <a:p>
            <a:pPr algn="l">
              <a:lnSpc>
                <a:spcPts val="4202"/>
              </a:lnSpc>
            </a:pPr>
          </a:p>
        </p:txBody>
      </p:sp>
      <p:sp>
        <p:nvSpPr>
          <p:cNvPr name="TextBox 5" id="5"/>
          <p:cNvSpPr txBox="true"/>
          <p:nvPr/>
        </p:nvSpPr>
        <p:spPr>
          <a:xfrm rot="0">
            <a:off x="262547" y="2314575"/>
            <a:ext cx="10907320" cy="921097"/>
          </a:xfrm>
          <a:prstGeom prst="rect">
            <a:avLst/>
          </a:prstGeom>
        </p:spPr>
        <p:txBody>
          <a:bodyPr anchor="t" rtlCol="false" tIns="0" lIns="0" bIns="0" rIns="0">
            <a:spAutoFit/>
          </a:bodyPr>
          <a:lstStyle/>
          <a:p>
            <a:pPr algn="ctr">
              <a:lnSpc>
                <a:spcPts val="7505"/>
              </a:lnSpc>
            </a:pPr>
            <a:r>
              <a:rPr lang="en-US" b="true" sz="5361">
                <a:solidFill>
                  <a:srgbClr val="002B58"/>
                </a:solidFill>
                <a:latin typeface="Readex Pro Semi-Bold"/>
                <a:ea typeface="Readex Pro Semi-Bold"/>
                <a:cs typeface="Readex Pro Semi-Bold"/>
                <a:sym typeface="Readex Pro Semi-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1014412"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854112" y="5143500"/>
            <a:ext cx="5448300" cy="5448300"/>
          </a:xfrm>
          <a:custGeom>
            <a:avLst/>
            <a:gdLst/>
            <a:ahLst/>
            <a:cxnLst/>
            <a:rect r="r" b="b" t="t" l="l"/>
            <a:pathLst>
              <a:path h="5448300" w="5448300">
                <a:moveTo>
                  <a:pt x="5448300" y="0"/>
                </a:moveTo>
                <a:lnTo>
                  <a:pt x="0" y="0"/>
                </a:lnTo>
                <a:lnTo>
                  <a:pt x="0" y="5448300"/>
                </a:lnTo>
                <a:lnTo>
                  <a:pt x="5448300" y="5448300"/>
                </a:lnTo>
                <a:lnTo>
                  <a:pt x="5448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351892" y="942975"/>
            <a:ext cx="10907320" cy="762982"/>
          </a:xfrm>
          <a:prstGeom prst="rect">
            <a:avLst/>
          </a:prstGeom>
        </p:spPr>
        <p:txBody>
          <a:bodyPr anchor="t" rtlCol="false" tIns="0" lIns="0" bIns="0" rIns="0">
            <a:spAutoFit/>
          </a:bodyPr>
          <a:lstStyle/>
          <a:p>
            <a:pPr algn="ctr">
              <a:lnSpc>
                <a:spcPts val="6245"/>
              </a:lnSpc>
            </a:pPr>
            <a:r>
              <a:rPr lang="en-US" b="true" sz="4461">
                <a:solidFill>
                  <a:srgbClr val="002B58"/>
                </a:solidFill>
                <a:latin typeface="Readex Pro Bold"/>
                <a:ea typeface="Readex Pro Bold"/>
                <a:cs typeface="Readex Pro Bold"/>
                <a:sym typeface="Readex Pro Bold"/>
              </a:rPr>
              <a:t>IMPACT:</a:t>
            </a:r>
          </a:p>
        </p:txBody>
      </p:sp>
      <p:sp>
        <p:nvSpPr>
          <p:cNvPr name="TextBox 5" id="5"/>
          <p:cNvSpPr txBox="true"/>
          <p:nvPr/>
        </p:nvSpPr>
        <p:spPr>
          <a:xfrm rot="0">
            <a:off x="2924360" y="1994993"/>
            <a:ext cx="14779183" cy="3028055"/>
          </a:xfrm>
          <a:prstGeom prst="rect">
            <a:avLst/>
          </a:prstGeom>
        </p:spPr>
        <p:txBody>
          <a:bodyPr anchor="t" rtlCol="false" tIns="0" lIns="0" bIns="0" rIns="0">
            <a:spAutoFit/>
          </a:bodyPr>
          <a:lstStyle/>
          <a:p>
            <a:pPr algn="just">
              <a:lnSpc>
                <a:spcPts val="4092"/>
              </a:lnSpc>
            </a:pPr>
            <a:r>
              <a:rPr lang="en-US" sz="2728">
                <a:solidFill>
                  <a:srgbClr val="002B58"/>
                </a:solidFill>
                <a:latin typeface="DM Sans"/>
                <a:ea typeface="DM Sans"/>
                <a:cs typeface="DM Sans"/>
                <a:sym typeface="DM Sans"/>
              </a:rPr>
              <a:t>• Enables real-time decision making through instant insights</a:t>
            </a:r>
          </a:p>
          <a:p>
            <a:pPr algn="just">
              <a:lnSpc>
                <a:spcPts val="4092"/>
              </a:lnSpc>
            </a:pPr>
            <a:r>
              <a:rPr lang="en-US" sz="2728">
                <a:solidFill>
                  <a:srgbClr val="002B58"/>
                </a:solidFill>
                <a:latin typeface="DM Sans"/>
                <a:ea typeface="DM Sans"/>
                <a:cs typeface="DM Sans"/>
                <a:sym typeface="DM Sans"/>
              </a:rPr>
              <a:t>• Helps understand public opinion and user sentiment</a:t>
            </a:r>
          </a:p>
          <a:p>
            <a:pPr algn="just">
              <a:lnSpc>
                <a:spcPts val="4092"/>
              </a:lnSpc>
            </a:pPr>
            <a:r>
              <a:rPr lang="en-US" sz="2728">
                <a:solidFill>
                  <a:srgbClr val="002B58"/>
                </a:solidFill>
                <a:latin typeface="DM Sans"/>
                <a:ea typeface="DM Sans"/>
                <a:cs typeface="DM Sans"/>
                <a:sym typeface="DM Sans"/>
              </a:rPr>
              <a:t>• Supports marketing, crisis detection, and analytics</a:t>
            </a:r>
          </a:p>
          <a:p>
            <a:pPr algn="just">
              <a:lnSpc>
                <a:spcPts val="4092"/>
              </a:lnSpc>
            </a:pPr>
            <a:r>
              <a:rPr lang="en-US" sz="2728">
                <a:solidFill>
                  <a:srgbClr val="002B58"/>
                </a:solidFill>
                <a:latin typeface="DM Sans"/>
                <a:ea typeface="DM Sans"/>
                <a:cs typeface="DM Sans"/>
                <a:sym typeface="DM Sans"/>
              </a:rPr>
              <a:t>• Improves business intelligence with data-driven insights</a:t>
            </a:r>
          </a:p>
          <a:p>
            <a:pPr algn="just">
              <a:lnSpc>
                <a:spcPts val="4092"/>
              </a:lnSpc>
            </a:pPr>
            <a:r>
              <a:rPr lang="en-US" sz="2728">
                <a:solidFill>
                  <a:srgbClr val="002B58"/>
                </a:solidFill>
                <a:latin typeface="DM Sans"/>
                <a:ea typeface="DM Sans"/>
                <a:cs typeface="DM Sans"/>
                <a:sym typeface="DM Sans"/>
              </a:rPr>
              <a:t>• Tracks trending topics and emerging patterns efficiently</a:t>
            </a:r>
          </a:p>
          <a:p>
            <a:pPr algn="just">
              <a:lnSpc>
                <a:spcPts val="3819"/>
              </a:lnSpc>
            </a:pPr>
          </a:p>
        </p:txBody>
      </p:sp>
      <p:sp>
        <p:nvSpPr>
          <p:cNvPr name="TextBox 6" id="6"/>
          <p:cNvSpPr txBox="true"/>
          <p:nvPr/>
        </p:nvSpPr>
        <p:spPr>
          <a:xfrm rot="0">
            <a:off x="-1014412" y="4937323"/>
            <a:ext cx="10907320" cy="762982"/>
          </a:xfrm>
          <a:prstGeom prst="rect">
            <a:avLst/>
          </a:prstGeom>
        </p:spPr>
        <p:txBody>
          <a:bodyPr anchor="t" rtlCol="false" tIns="0" lIns="0" bIns="0" rIns="0">
            <a:spAutoFit/>
          </a:bodyPr>
          <a:lstStyle/>
          <a:p>
            <a:pPr algn="ctr">
              <a:lnSpc>
                <a:spcPts val="6245"/>
              </a:lnSpc>
            </a:pPr>
            <a:r>
              <a:rPr lang="en-US" b="true" sz="4461">
                <a:solidFill>
                  <a:srgbClr val="002B58"/>
                </a:solidFill>
                <a:latin typeface="Readex Pro Bold"/>
                <a:ea typeface="Readex Pro Bold"/>
                <a:cs typeface="Readex Pro Bold"/>
                <a:sym typeface="Readex Pro Bold"/>
              </a:rPr>
              <a:t>OBJECTIVE</a:t>
            </a:r>
          </a:p>
        </p:txBody>
      </p:sp>
      <p:sp>
        <p:nvSpPr>
          <p:cNvPr name="TextBox 7" id="7"/>
          <p:cNvSpPr txBox="true"/>
          <p:nvPr/>
        </p:nvSpPr>
        <p:spPr>
          <a:xfrm rot="0">
            <a:off x="2591178" y="6090216"/>
            <a:ext cx="12558643" cy="2534481"/>
          </a:xfrm>
          <a:prstGeom prst="rect">
            <a:avLst/>
          </a:prstGeom>
        </p:spPr>
        <p:txBody>
          <a:bodyPr anchor="t" rtlCol="false" tIns="0" lIns="0" bIns="0" rIns="0">
            <a:spAutoFit/>
          </a:bodyPr>
          <a:lstStyle/>
          <a:p>
            <a:pPr algn="l" marL="589017" indent="-294508" lvl="1">
              <a:lnSpc>
                <a:spcPts val="4092"/>
              </a:lnSpc>
              <a:buFont typeface="Arial"/>
              <a:buChar char="•"/>
            </a:pPr>
            <a:r>
              <a:rPr lang="en-US" sz="2728">
                <a:solidFill>
                  <a:srgbClr val="002B58"/>
                </a:solidFill>
                <a:latin typeface="DM Sans"/>
                <a:ea typeface="DM Sans"/>
                <a:cs typeface="DM Sans"/>
                <a:sym typeface="DM Sans"/>
              </a:rPr>
              <a:t>Build a scalable and efficient system using PySpark for big data processing</a:t>
            </a:r>
          </a:p>
          <a:p>
            <a:pPr algn="l" marL="589017" indent="-294508" lvl="1">
              <a:lnSpc>
                <a:spcPts val="4092"/>
              </a:lnSpc>
              <a:buFont typeface="Arial"/>
              <a:buChar char="•"/>
            </a:pPr>
            <a:r>
              <a:rPr lang="en-US" sz="2728">
                <a:solidFill>
                  <a:srgbClr val="002B58"/>
                </a:solidFill>
                <a:latin typeface="DM Sans"/>
                <a:ea typeface="DM Sans"/>
                <a:cs typeface="DM Sans"/>
                <a:sym typeface="DM Sans"/>
              </a:rPr>
              <a:t>Perform real-time trend detection and sentiment analysis on social media data</a:t>
            </a:r>
          </a:p>
          <a:p>
            <a:pPr algn="l" marL="589017" indent="-294508" lvl="1">
              <a:lnSpc>
                <a:spcPts val="4092"/>
              </a:lnSpc>
              <a:buFont typeface="Arial"/>
              <a:buChar char="•"/>
            </a:pPr>
            <a:r>
              <a:rPr lang="en-US" sz="2728">
                <a:solidFill>
                  <a:srgbClr val="002B58"/>
                </a:solidFill>
                <a:latin typeface="DM Sans"/>
                <a:ea typeface="DM Sans"/>
                <a:cs typeface="DM Sans"/>
                <a:sym typeface="DM Sans"/>
              </a:rPr>
              <a:t>Automate data collection, preprocessing, analysis, and visualization</a:t>
            </a:r>
          </a:p>
          <a:p>
            <a:pPr algn="l" marL="589017" indent="-294508" lvl="1">
              <a:lnSpc>
                <a:spcPts val="4092"/>
              </a:lnSpc>
              <a:buFont typeface="Arial"/>
              <a:buChar char="•"/>
            </a:pPr>
            <a:r>
              <a:rPr lang="en-US" sz="2728">
                <a:solidFill>
                  <a:srgbClr val="002B58"/>
                </a:solidFill>
                <a:latin typeface="DM Sans"/>
                <a:ea typeface="DM Sans"/>
                <a:cs typeface="DM Sans"/>
                <a:sym typeface="DM Sans"/>
              </a:rPr>
              <a:t>Extract meaningful insights such as trending topics and public opinion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false" rot="0">
            <a:off x="-1014412" y="5267903"/>
            <a:ext cx="5448300" cy="5448300"/>
          </a:xfrm>
          <a:custGeom>
            <a:avLst/>
            <a:gdLst/>
            <a:ahLst/>
            <a:cxnLst/>
            <a:rect r="r" b="b" t="t" l="l"/>
            <a:pathLst>
              <a:path h="5448300" w="5448300">
                <a:moveTo>
                  <a:pt x="0" y="0"/>
                </a:moveTo>
                <a:lnTo>
                  <a:pt x="5448300" y="0"/>
                </a:lnTo>
                <a:lnTo>
                  <a:pt x="5448300" y="5448300"/>
                </a:lnTo>
                <a:lnTo>
                  <a:pt x="0" y="54483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3854112" y="-304800"/>
            <a:ext cx="5448300" cy="5448300"/>
          </a:xfrm>
          <a:custGeom>
            <a:avLst/>
            <a:gdLst/>
            <a:ahLst/>
            <a:cxnLst/>
            <a:rect r="r" b="b" t="t" l="l"/>
            <a:pathLst>
              <a:path h="5448300" w="5448300">
                <a:moveTo>
                  <a:pt x="5448300" y="5448300"/>
                </a:moveTo>
                <a:lnTo>
                  <a:pt x="0" y="5448300"/>
                </a:lnTo>
                <a:lnTo>
                  <a:pt x="0" y="0"/>
                </a:lnTo>
                <a:lnTo>
                  <a:pt x="5448300" y="0"/>
                </a:lnTo>
                <a:lnTo>
                  <a:pt x="544830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085627" y="1174585"/>
            <a:ext cx="13990918" cy="8186636"/>
          </a:xfrm>
          <a:custGeom>
            <a:avLst/>
            <a:gdLst/>
            <a:ahLst/>
            <a:cxnLst/>
            <a:rect r="r" b="b" t="t" l="l"/>
            <a:pathLst>
              <a:path h="8186636" w="13990918">
                <a:moveTo>
                  <a:pt x="0" y="0"/>
                </a:moveTo>
                <a:lnTo>
                  <a:pt x="13990918" y="0"/>
                </a:lnTo>
                <a:lnTo>
                  <a:pt x="13990918" y="8186636"/>
                </a:lnTo>
                <a:lnTo>
                  <a:pt x="0" y="8186636"/>
                </a:lnTo>
                <a:lnTo>
                  <a:pt x="0" y="0"/>
                </a:lnTo>
                <a:close/>
              </a:path>
            </a:pathLst>
          </a:custGeom>
          <a:blipFill>
            <a:blip r:embed="rId4"/>
            <a:stretch>
              <a:fillRect l="0" t="0" r="0" b="0"/>
            </a:stretch>
          </a:blipFill>
        </p:spPr>
      </p:sp>
      <p:sp>
        <p:nvSpPr>
          <p:cNvPr name="TextBox 5" id="5"/>
          <p:cNvSpPr txBox="true"/>
          <p:nvPr/>
        </p:nvSpPr>
        <p:spPr>
          <a:xfrm rot="0">
            <a:off x="-1019773" y="-116553"/>
            <a:ext cx="10907320" cy="1145253"/>
          </a:xfrm>
          <a:prstGeom prst="rect">
            <a:avLst/>
          </a:prstGeom>
        </p:spPr>
        <p:txBody>
          <a:bodyPr anchor="t" rtlCol="false" tIns="0" lIns="0" bIns="0" rIns="0">
            <a:spAutoFit/>
          </a:bodyPr>
          <a:lstStyle/>
          <a:p>
            <a:pPr algn="ctr">
              <a:lnSpc>
                <a:spcPts val="9325"/>
              </a:lnSpc>
            </a:pPr>
            <a:r>
              <a:rPr lang="en-US" b="true" sz="6661">
                <a:solidFill>
                  <a:srgbClr val="002B58"/>
                </a:solidFill>
                <a:latin typeface="Readex Pro Semi-Bold"/>
                <a:ea typeface="Readex Pro Semi-Bold"/>
                <a:cs typeface="Readex Pro Semi-Bold"/>
                <a:sym typeface="Readex Pro Semi-Bold"/>
              </a:rPr>
              <a:t>TARGET SEGMENT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561363"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121785" y="881486"/>
            <a:ext cx="10907320" cy="779492"/>
          </a:xfrm>
          <a:prstGeom prst="rect">
            <a:avLst/>
          </a:prstGeom>
        </p:spPr>
        <p:txBody>
          <a:bodyPr anchor="t" rtlCol="false" tIns="0" lIns="0" bIns="0" rIns="0">
            <a:spAutoFit/>
          </a:bodyPr>
          <a:lstStyle/>
          <a:p>
            <a:pPr algn="ctr">
              <a:lnSpc>
                <a:spcPts val="6385"/>
              </a:lnSpc>
            </a:pPr>
            <a:r>
              <a:rPr lang="en-US" b="true" sz="4561">
                <a:solidFill>
                  <a:srgbClr val="002B58"/>
                </a:solidFill>
                <a:latin typeface="Readex Pro Semi-Bold"/>
                <a:ea typeface="Readex Pro Semi-Bold"/>
                <a:cs typeface="Readex Pro Semi-Bold"/>
                <a:sym typeface="Readex Pro Semi-Bold"/>
              </a:rPr>
              <a:t>WHY IS OUR SOLUTION ACCURATE?</a:t>
            </a:r>
          </a:p>
        </p:txBody>
      </p:sp>
      <p:sp>
        <p:nvSpPr>
          <p:cNvPr name="TextBox 4" id="4"/>
          <p:cNvSpPr txBox="true"/>
          <p:nvPr/>
        </p:nvSpPr>
        <p:spPr>
          <a:xfrm rot="0">
            <a:off x="2627081" y="1603828"/>
            <a:ext cx="14632219" cy="8365692"/>
          </a:xfrm>
          <a:prstGeom prst="rect">
            <a:avLst/>
          </a:prstGeom>
        </p:spPr>
        <p:txBody>
          <a:bodyPr anchor="t" rtlCol="false" tIns="0" lIns="0" bIns="0" rIns="0">
            <a:spAutoFit/>
          </a:bodyPr>
          <a:lstStyle/>
          <a:p>
            <a:pPr algn="just">
              <a:lnSpc>
                <a:spcPts val="3527"/>
              </a:lnSpc>
            </a:pPr>
            <a:r>
              <a:rPr lang="en-US" b="true" sz="2519">
                <a:solidFill>
                  <a:srgbClr val="002B58"/>
                </a:solidFill>
                <a:latin typeface="DM Sans Bold"/>
                <a:ea typeface="DM Sans Bold"/>
                <a:cs typeface="DM Sans Bold"/>
                <a:sym typeface="DM Sans Bold"/>
              </a:rPr>
              <a:t>Real-Time Processing with PySpark</a:t>
            </a:r>
          </a:p>
          <a:p>
            <a:pPr algn="just">
              <a:lnSpc>
                <a:spcPts val="3527"/>
              </a:lnSpc>
            </a:pPr>
            <a:r>
              <a:rPr lang="en-US" sz="2519">
                <a:solidFill>
                  <a:srgbClr val="002B58"/>
                </a:solidFill>
                <a:latin typeface="DM Sans"/>
                <a:ea typeface="DM Sans"/>
                <a:cs typeface="DM Sans"/>
                <a:sym typeface="DM Sans"/>
              </a:rPr>
              <a:t>The system leverages PySpark Structured Streaming to process continuously incoming social media data with minimal latency. It enables real-time ingestion, transformation, and analysis of high-velocity data streams. This ensures that trends and insights are generated instantly rather than after delays.</a:t>
            </a:r>
          </a:p>
          <a:p>
            <a:pPr algn="just">
              <a:lnSpc>
                <a:spcPts val="3527"/>
              </a:lnSpc>
            </a:pPr>
            <a:r>
              <a:rPr lang="en-US" b="true" sz="2519">
                <a:solidFill>
                  <a:srgbClr val="002B58"/>
                </a:solidFill>
                <a:latin typeface="DM Sans Bold"/>
                <a:ea typeface="DM Sans Bold"/>
                <a:cs typeface="DM Sans Bold"/>
                <a:sym typeface="DM Sans Bold"/>
              </a:rPr>
              <a:t>Efficient Data Preprocessing</a:t>
            </a:r>
          </a:p>
          <a:p>
            <a:pPr algn="just">
              <a:lnSpc>
                <a:spcPts val="3527"/>
              </a:lnSpc>
            </a:pPr>
            <a:r>
              <a:rPr lang="en-US" sz="2519">
                <a:solidFill>
                  <a:srgbClr val="002B58"/>
                </a:solidFill>
                <a:latin typeface="DM Sans"/>
                <a:ea typeface="DM Sans"/>
                <a:cs typeface="DM Sans"/>
                <a:sym typeface="DM Sans"/>
              </a:rPr>
              <a:t>Raw social media data is noisy and unstructured, so the system applies multiple preprocessing steps such as text cleaning, stopword removal, tokenization, and normalization. </a:t>
            </a:r>
          </a:p>
          <a:p>
            <a:pPr algn="just">
              <a:lnSpc>
                <a:spcPts val="3527"/>
              </a:lnSpc>
            </a:pPr>
            <a:r>
              <a:rPr lang="en-US" b="true" sz="2519">
                <a:solidFill>
                  <a:srgbClr val="002B58"/>
                </a:solidFill>
                <a:latin typeface="DM Sans Bold"/>
                <a:ea typeface="DM Sans Bold"/>
                <a:cs typeface="DM Sans Bold"/>
                <a:sym typeface="DM Sans Bold"/>
              </a:rPr>
              <a:t>Trend Detection</a:t>
            </a:r>
          </a:p>
          <a:p>
            <a:pPr algn="just">
              <a:lnSpc>
                <a:spcPts val="3527"/>
              </a:lnSpc>
            </a:pPr>
            <a:r>
              <a:rPr lang="en-US" sz="2519">
                <a:solidFill>
                  <a:srgbClr val="002B58"/>
                </a:solidFill>
                <a:latin typeface="DM Sans"/>
                <a:ea typeface="DM Sans"/>
                <a:cs typeface="DM Sans"/>
                <a:sym typeface="DM Sans"/>
              </a:rPr>
              <a:t>The system identifies trending topics by analyzing word frequency and hashtag occurrences in real time. It continuously updates trending keywords based on incoming data streams. .</a:t>
            </a:r>
          </a:p>
          <a:p>
            <a:pPr algn="just">
              <a:lnSpc>
                <a:spcPts val="3527"/>
              </a:lnSpc>
            </a:pPr>
            <a:r>
              <a:rPr lang="en-US" b="true" sz="2519">
                <a:solidFill>
                  <a:srgbClr val="002B58"/>
                </a:solidFill>
                <a:latin typeface="DM Sans Bold"/>
                <a:ea typeface="DM Sans Bold"/>
                <a:cs typeface="DM Sans Bold"/>
                <a:sym typeface="DM Sans Bold"/>
              </a:rPr>
              <a:t>Sentiment Analysis</a:t>
            </a:r>
          </a:p>
          <a:p>
            <a:pPr algn="just">
              <a:lnSpc>
                <a:spcPts val="3527"/>
              </a:lnSpc>
            </a:pPr>
            <a:r>
              <a:rPr lang="en-US" sz="2519">
                <a:solidFill>
                  <a:srgbClr val="002B58"/>
                </a:solidFill>
                <a:latin typeface="DM Sans"/>
                <a:ea typeface="DM Sans"/>
                <a:cs typeface="DM Sans"/>
                <a:sym typeface="DM Sans"/>
              </a:rPr>
              <a:t>Sentiment analysis is performed using NLP techniques to classify posts into positive, negative, or neutral categories. </a:t>
            </a:r>
          </a:p>
          <a:p>
            <a:pPr algn="just">
              <a:lnSpc>
                <a:spcPts val="3527"/>
              </a:lnSpc>
            </a:pPr>
            <a:r>
              <a:rPr lang="en-US" b="true" sz="2519">
                <a:solidFill>
                  <a:srgbClr val="002B58"/>
                </a:solidFill>
                <a:latin typeface="DM Sans Bold"/>
                <a:ea typeface="DM Sans Bold"/>
                <a:cs typeface="DM Sans Bold"/>
                <a:sym typeface="DM Sans Bold"/>
              </a:rPr>
              <a:t>Scalability</a:t>
            </a:r>
          </a:p>
          <a:p>
            <a:pPr algn="just">
              <a:lnSpc>
                <a:spcPts val="3527"/>
              </a:lnSpc>
            </a:pPr>
            <a:r>
              <a:rPr lang="en-US" sz="2519">
                <a:solidFill>
                  <a:srgbClr val="002B58"/>
                </a:solidFill>
                <a:latin typeface="DM Sans"/>
                <a:ea typeface="DM Sans"/>
                <a:cs typeface="DM Sans"/>
                <a:sym typeface="DM Sans"/>
              </a:rPr>
              <a:t>The system is built on Apache Spark, which supports distributed computing across multiple nodes. This allows it to handle large-scale data efficiently without performance degradation. As data volume increases, the system can scale horizontally to maintain speed and accuracy.</a:t>
            </a:r>
          </a:p>
          <a:p>
            <a:pPr algn="just">
              <a:lnSpc>
                <a:spcPts val="247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false" rot="0">
            <a:off x="2958224" y="1028700"/>
            <a:ext cx="13901943" cy="8834481"/>
          </a:xfrm>
          <a:custGeom>
            <a:avLst/>
            <a:gdLst/>
            <a:ahLst/>
            <a:cxnLst/>
            <a:rect r="r" b="b" t="t" l="l"/>
            <a:pathLst>
              <a:path h="8834481" w="13901943">
                <a:moveTo>
                  <a:pt x="0" y="0"/>
                </a:moveTo>
                <a:lnTo>
                  <a:pt x="13901943" y="0"/>
                </a:lnTo>
                <a:lnTo>
                  <a:pt x="13901943" y="8834481"/>
                </a:lnTo>
                <a:lnTo>
                  <a:pt x="0" y="8834481"/>
                </a:lnTo>
                <a:lnTo>
                  <a:pt x="0" y="0"/>
                </a:lnTo>
                <a:close/>
              </a:path>
            </a:pathLst>
          </a:custGeom>
          <a:blipFill>
            <a:blip r:embed="rId2"/>
            <a:stretch>
              <a:fillRect l="0" t="-453" r="0" b="-453"/>
            </a:stretch>
          </a:blipFill>
        </p:spPr>
      </p:sp>
      <p:sp>
        <p:nvSpPr>
          <p:cNvPr name="TextBox 3" id="3"/>
          <p:cNvSpPr txBox="true"/>
          <p:nvPr/>
        </p:nvSpPr>
        <p:spPr>
          <a:xfrm rot="0">
            <a:off x="4122353" y="249208"/>
            <a:ext cx="10907320" cy="779492"/>
          </a:xfrm>
          <a:prstGeom prst="rect">
            <a:avLst/>
          </a:prstGeom>
        </p:spPr>
        <p:txBody>
          <a:bodyPr anchor="t" rtlCol="false" tIns="0" lIns="0" bIns="0" rIns="0">
            <a:spAutoFit/>
          </a:bodyPr>
          <a:lstStyle/>
          <a:p>
            <a:pPr algn="ctr">
              <a:lnSpc>
                <a:spcPts val="6385"/>
              </a:lnSpc>
            </a:pPr>
            <a:r>
              <a:rPr lang="en-US" b="true" sz="4561">
                <a:solidFill>
                  <a:srgbClr val="002B58"/>
                </a:solidFill>
                <a:latin typeface="Readex Pro Semi-Bold"/>
                <a:ea typeface="Readex Pro Semi-Bold"/>
                <a:cs typeface="Readex Pro Semi-Bold"/>
                <a:sym typeface="Readex Pro Semi-Bold"/>
              </a:rPr>
              <a:t>ARCHITECTURE DIAGRAM</a:t>
            </a:r>
          </a:p>
        </p:txBody>
      </p:sp>
      <p:sp>
        <p:nvSpPr>
          <p:cNvPr name="Freeform 4" id="4"/>
          <p:cNvSpPr/>
          <p:nvPr/>
        </p:nvSpPr>
        <p:spPr>
          <a:xfrm flipH="false" flipV="true" rot="0">
            <a:off x="-326376"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false" rot="0">
            <a:off x="2968240" y="1028700"/>
            <a:ext cx="14698283" cy="8899264"/>
          </a:xfrm>
          <a:custGeom>
            <a:avLst/>
            <a:gdLst/>
            <a:ahLst/>
            <a:cxnLst/>
            <a:rect r="r" b="b" t="t" l="l"/>
            <a:pathLst>
              <a:path h="8899264" w="14698283">
                <a:moveTo>
                  <a:pt x="0" y="0"/>
                </a:moveTo>
                <a:lnTo>
                  <a:pt x="14698283" y="0"/>
                </a:lnTo>
                <a:lnTo>
                  <a:pt x="14698283" y="8899264"/>
                </a:lnTo>
                <a:lnTo>
                  <a:pt x="0" y="8899264"/>
                </a:lnTo>
                <a:lnTo>
                  <a:pt x="0" y="0"/>
                </a:lnTo>
                <a:close/>
              </a:path>
            </a:pathLst>
          </a:custGeom>
          <a:blipFill>
            <a:blip r:embed="rId2"/>
            <a:stretch>
              <a:fillRect l="0" t="0" r="0" b="0"/>
            </a:stretch>
          </a:blipFill>
        </p:spPr>
      </p:sp>
      <p:sp>
        <p:nvSpPr>
          <p:cNvPr name="TextBox 3" id="3"/>
          <p:cNvSpPr txBox="true"/>
          <p:nvPr/>
        </p:nvSpPr>
        <p:spPr>
          <a:xfrm rot="0">
            <a:off x="4360882" y="216188"/>
            <a:ext cx="10907320" cy="812512"/>
          </a:xfrm>
          <a:prstGeom prst="rect">
            <a:avLst/>
          </a:prstGeom>
        </p:spPr>
        <p:txBody>
          <a:bodyPr anchor="t" rtlCol="false" tIns="0" lIns="0" bIns="0" rIns="0">
            <a:spAutoFit/>
          </a:bodyPr>
          <a:lstStyle/>
          <a:p>
            <a:pPr algn="ctr">
              <a:lnSpc>
                <a:spcPts val="6665"/>
              </a:lnSpc>
            </a:pPr>
            <a:r>
              <a:rPr lang="en-US" b="true" sz="4761">
                <a:solidFill>
                  <a:srgbClr val="002B58"/>
                </a:solidFill>
                <a:latin typeface="Readex Pro Semi-Bold"/>
                <a:ea typeface="Readex Pro Semi-Bold"/>
                <a:cs typeface="Readex Pro Semi-Bold"/>
                <a:sym typeface="Readex Pro Semi-Bold"/>
              </a:rPr>
              <a:t>USER FLOW CHART</a:t>
            </a:r>
          </a:p>
        </p:txBody>
      </p:sp>
      <p:sp>
        <p:nvSpPr>
          <p:cNvPr name="Freeform 4" id="4"/>
          <p:cNvSpPr/>
          <p:nvPr/>
        </p:nvSpPr>
        <p:spPr>
          <a:xfrm flipH="false" flipV="true" rot="0">
            <a:off x="-305797" y="-269473"/>
            <a:ext cx="5412973" cy="5412973"/>
          </a:xfrm>
          <a:custGeom>
            <a:avLst/>
            <a:gdLst/>
            <a:ahLst/>
            <a:cxnLst/>
            <a:rect r="r" b="b" t="t" l="l"/>
            <a:pathLst>
              <a:path h="5412973" w="5412973">
                <a:moveTo>
                  <a:pt x="0" y="5412973"/>
                </a:moveTo>
                <a:lnTo>
                  <a:pt x="5412973" y="5412973"/>
                </a:lnTo>
                <a:lnTo>
                  <a:pt x="5412973" y="0"/>
                </a:lnTo>
                <a:lnTo>
                  <a:pt x="0" y="0"/>
                </a:lnTo>
                <a:lnTo>
                  <a:pt x="0" y="5412973"/>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1014412"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graphicFrame>
        <p:nvGraphicFramePr>
          <p:cNvPr name="Table 3" id="3"/>
          <p:cNvGraphicFramePr>
            <a:graphicFrameLocks noGrp="true"/>
          </p:cNvGraphicFramePr>
          <p:nvPr/>
        </p:nvGraphicFramePr>
        <p:xfrm>
          <a:off x="3588084" y="1605290"/>
          <a:ext cx="13364770" cy="7653010"/>
        </p:xfrm>
        <a:graphic>
          <a:graphicData uri="http://schemas.openxmlformats.org/drawingml/2006/table">
            <a:tbl>
              <a:tblPr/>
              <a:tblGrid>
                <a:gridCol w="3341193"/>
                <a:gridCol w="3341193"/>
                <a:gridCol w="3341193"/>
                <a:gridCol w="3341193"/>
              </a:tblGrid>
              <a:tr h="1304425">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Component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b="true">
                          <a:solidFill>
                            <a:srgbClr val="000000"/>
                          </a:solidFill>
                          <a:latin typeface="Canva Sans Bold"/>
                          <a:ea typeface="Canva Sans Bold"/>
                          <a:cs typeface="Canva Sans Bold"/>
                          <a:sym typeface="Canva Sans Bold"/>
                        </a:rPr>
                        <a:t>AWS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Canva Sans Bold"/>
                          <a:ea typeface="Canva Sans Bold"/>
                          <a:cs typeface="Canva Sans Bold"/>
                          <a:sym typeface="Canva Sans Bold"/>
                        </a:rPr>
                        <a:t>GCP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b="true">
                          <a:solidFill>
                            <a:srgbClr val="000000"/>
                          </a:solidFill>
                          <a:latin typeface="Canva Sans Bold"/>
                          <a:ea typeface="Canva Sans Bold"/>
                          <a:cs typeface="Canva Sans Bold"/>
                          <a:sym typeface="Canva Sans Bold"/>
                        </a:rPr>
                        <a:t>Azure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425">
                <a:tc>
                  <a:txBody>
                    <a:bodyPr anchor="t" rtlCol="false"/>
                    <a:lstStyle/>
                    <a:p>
                      <a:pPr algn="l">
                        <a:lnSpc>
                          <a:spcPts val="2520"/>
                        </a:lnSpc>
                        <a:defRPr/>
                      </a:pPr>
                      <a:r>
                        <a:rPr lang="en-US" sz="1800">
                          <a:solidFill>
                            <a:srgbClr val="000000"/>
                          </a:solidFill>
                          <a:latin typeface="Canva Sans"/>
                          <a:ea typeface="Canva Sans"/>
                          <a:cs typeface="Canva Sans"/>
                          <a:sym typeface="Canva Sans"/>
                        </a:rPr>
                        <a:t>Frontend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S3 + CloudFront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Cloud Storage + CDN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Blob Storage + CDN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425">
                <a:tc>
                  <a:txBody>
                    <a:bodyPr anchor="t" rtlCol="false"/>
                    <a:lstStyle/>
                    <a:p>
                      <a:pPr algn="l">
                        <a:lnSpc>
                          <a:spcPts val="2520"/>
                        </a:lnSpc>
                        <a:defRPr/>
                      </a:pPr>
                      <a:r>
                        <a:rPr lang="en-US" sz="1800">
                          <a:solidFill>
                            <a:srgbClr val="000000"/>
                          </a:solidFill>
                          <a:latin typeface="Canva Sans"/>
                          <a:ea typeface="Canva Sans"/>
                          <a:cs typeface="Canva Sans"/>
                          <a:sym typeface="Canva Sans"/>
                        </a:rPr>
                        <a:t>Backend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Lambda / EC2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Cloud Run / Functions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Azure Functions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425">
                <a:tc>
                  <a:txBody>
                    <a:bodyPr anchor="t" rtlCol="false"/>
                    <a:lstStyle/>
                    <a:p>
                      <a:pPr algn="l">
                        <a:lnSpc>
                          <a:spcPts val="2520"/>
                        </a:lnSpc>
                        <a:defRPr/>
                      </a:pPr>
                      <a:r>
                        <a:rPr lang="en-US" sz="1800">
                          <a:solidFill>
                            <a:srgbClr val="000000"/>
                          </a:solidFill>
                          <a:latin typeface="Canva Sans"/>
                          <a:ea typeface="Canva Sans"/>
                          <a:cs typeface="Canva Sans"/>
                          <a:sym typeface="Canva Sans"/>
                        </a:rPr>
                        <a:t>Processing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EMR (Spark)</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Dataproc</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HDInsight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04425">
                <a:tc>
                  <a:txBody>
                    <a:bodyPr anchor="t" rtlCol="false"/>
                    <a:lstStyle/>
                    <a:p>
                      <a:pPr algn="l">
                        <a:lnSpc>
                          <a:spcPts val="2520"/>
                        </a:lnSpc>
                        <a:defRPr/>
                      </a:pPr>
                      <a:r>
                        <a:rPr lang="en-US" sz="1800">
                          <a:solidFill>
                            <a:srgbClr val="000000"/>
                          </a:solidFill>
                          <a:latin typeface="Canva Sans"/>
                          <a:ea typeface="Canva Sans"/>
                          <a:cs typeface="Canva Sans"/>
                          <a:sym typeface="Canva Sans"/>
                        </a:rPr>
                        <a:t>Streaming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Kinesis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Pub/Sub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Event Hubs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130886">
                <a:tc>
                  <a:txBody>
                    <a:bodyPr anchor="t" rtlCol="false"/>
                    <a:lstStyle/>
                    <a:p>
                      <a:pPr algn="l">
                        <a:lnSpc>
                          <a:spcPts val="2520"/>
                        </a:lnSpc>
                        <a:defRPr/>
                      </a:pPr>
                      <a:r>
                        <a:rPr lang="en-US" sz="1800">
                          <a:solidFill>
                            <a:srgbClr val="000000"/>
                          </a:solidFill>
                          <a:latin typeface="Canva Sans"/>
                          <a:ea typeface="Canva Sans"/>
                          <a:cs typeface="Canva Sans"/>
                          <a:sym typeface="Canva Sans"/>
                        </a:rPr>
                        <a:t>Database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DynamoDB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Firestore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l">
                        <a:lnSpc>
                          <a:spcPts val="2520"/>
                        </a:lnSpc>
                        <a:defRPr/>
                      </a:pPr>
                      <a:r>
                        <a:rPr lang="en-US" sz="1800">
                          <a:solidFill>
                            <a:srgbClr val="000000"/>
                          </a:solidFill>
                          <a:latin typeface="Canva Sans"/>
                          <a:ea typeface="Canva Sans"/>
                          <a:cs typeface="Canva Sans"/>
                          <a:sym typeface="Canva Sans"/>
                        </a:rPr>
                        <a:t>Cosmos DB</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3321570" y="683702"/>
            <a:ext cx="7615263" cy="623320"/>
          </a:xfrm>
          <a:prstGeom prst="rect">
            <a:avLst/>
          </a:prstGeom>
        </p:spPr>
        <p:txBody>
          <a:bodyPr anchor="t" rtlCol="false" tIns="0" lIns="0" bIns="0" rIns="0">
            <a:spAutoFit/>
          </a:bodyPr>
          <a:lstStyle/>
          <a:p>
            <a:pPr algn="ctr">
              <a:lnSpc>
                <a:spcPts val="5176"/>
              </a:lnSpc>
            </a:pPr>
            <a:r>
              <a:rPr lang="en-US" b="true" sz="3697">
                <a:solidFill>
                  <a:srgbClr val="002B58"/>
                </a:solidFill>
                <a:latin typeface="Readex Pro Semi-Bold"/>
                <a:ea typeface="Readex Pro Semi-Bold"/>
                <a:cs typeface="Readex Pro Semi-Bold"/>
                <a:sym typeface="Readex Pro Semi-Bold"/>
              </a:rPr>
              <a:t>DEPLOYMENT COMPARISION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97069"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04296" y="1639858"/>
            <a:ext cx="10907320" cy="779492"/>
          </a:xfrm>
          <a:prstGeom prst="rect">
            <a:avLst/>
          </a:prstGeom>
        </p:spPr>
        <p:txBody>
          <a:bodyPr anchor="t" rtlCol="false" tIns="0" lIns="0" bIns="0" rIns="0">
            <a:spAutoFit/>
          </a:bodyPr>
          <a:lstStyle/>
          <a:p>
            <a:pPr algn="ctr">
              <a:lnSpc>
                <a:spcPts val="6385"/>
              </a:lnSpc>
            </a:pPr>
            <a:r>
              <a:rPr lang="en-US" b="true" sz="4561">
                <a:solidFill>
                  <a:srgbClr val="002B58"/>
                </a:solidFill>
                <a:latin typeface="Readex Pro Semi-Bold"/>
                <a:ea typeface="Readex Pro Semi-Bold"/>
                <a:cs typeface="Readex Pro Semi-Bold"/>
                <a:sym typeface="Readex Pro Semi-Bold"/>
              </a:rPr>
              <a:t>CONCLUSION</a:t>
            </a:r>
          </a:p>
        </p:txBody>
      </p:sp>
      <p:sp>
        <p:nvSpPr>
          <p:cNvPr name="TextBox 4" id="4"/>
          <p:cNvSpPr txBox="true"/>
          <p:nvPr/>
        </p:nvSpPr>
        <p:spPr>
          <a:xfrm rot="0">
            <a:off x="2627081" y="2343150"/>
            <a:ext cx="14632219" cy="7459981"/>
          </a:xfrm>
          <a:prstGeom prst="rect">
            <a:avLst/>
          </a:prstGeom>
        </p:spPr>
        <p:txBody>
          <a:bodyPr anchor="t" rtlCol="false" tIns="0" lIns="0" bIns="0" rIns="0">
            <a:spAutoFit/>
          </a:bodyPr>
          <a:lstStyle/>
          <a:p>
            <a:pPr algn="just">
              <a:lnSpc>
                <a:spcPts val="4049"/>
              </a:lnSpc>
            </a:pPr>
            <a:r>
              <a:rPr lang="en-US" sz="2699" b="true">
                <a:solidFill>
                  <a:srgbClr val="002B58"/>
                </a:solidFill>
                <a:latin typeface="DM Sans Bold"/>
                <a:ea typeface="DM Sans Bold"/>
                <a:cs typeface="DM Sans Bold"/>
                <a:sym typeface="DM Sans Bold"/>
              </a:rPr>
              <a:t>What it is:</a:t>
            </a:r>
          </a:p>
          <a:p>
            <a:pPr algn="just">
              <a:lnSpc>
                <a:spcPts val="4049"/>
              </a:lnSpc>
            </a:pPr>
            <a:r>
              <a:rPr lang="en-US" sz="2699">
                <a:solidFill>
                  <a:srgbClr val="002B58"/>
                </a:solidFill>
                <a:latin typeface="DM Sans"/>
                <a:ea typeface="DM Sans"/>
                <a:cs typeface="DM Sans"/>
                <a:sym typeface="DM Sans"/>
              </a:rPr>
              <a:t>A real-time social media analytics system that processes large-scale streaming data using PySpark to identify trending topics, analyze public sentiment, and generate actionable insights for decision-making.</a:t>
            </a:r>
          </a:p>
          <a:p>
            <a:pPr algn="just">
              <a:lnSpc>
                <a:spcPts val="4049"/>
              </a:lnSpc>
            </a:pPr>
            <a:r>
              <a:rPr lang="en-US" sz="2699" b="true">
                <a:solidFill>
                  <a:srgbClr val="002B58"/>
                </a:solidFill>
                <a:latin typeface="DM Sans Bold"/>
                <a:ea typeface="DM Sans Bold"/>
                <a:cs typeface="DM Sans Bold"/>
                <a:sym typeface="DM Sans Bold"/>
              </a:rPr>
              <a:t>Key Features:</a:t>
            </a:r>
          </a:p>
          <a:p>
            <a:pPr algn="just">
              <a:lnSpc>
                <a:spcPts val="4049"/>
              </a:lnSpc>
            </a:pPr>
            <a:r>
              <a:rPr lang="en-US" sz="2699">
                <a:solidFill>
                  <a:srgbClr val="002B58"/>
                </a:solidFill>
                <a:latin typeface="DM Sans"/>
                <a:ea typeface="DM Sans"/>
                <a:cs typeface="DM Sans"/>
                <a:sym typeface="DM Sans"/>
              </a:rPr>
              <a:t>• Real-Time Data Processing: Continuous analysis of streaming social media data for instant insights.</a:t>
            </a:r>
          </a:p>
          <a:p>
            <a:pPr algn="just">
              <a:lnSpc>
                <a:spcPts val="4049"/>
              </a:lnSpc>
            </a:pPr>
            <a:r>
              <a:rPr lang="en-US" sz="2699">
                <a:solidFill>
                  <a:srgbClr val="002B58"/>
                </a:solidFill>
                <a:latin typeface="DM Sans"/>
                <a:ea typeface="DM Sans"/>
                <a:cs typeface="DM Sans"/>
                <a:sym typeface="DM Sans"/>
              </a:rPr>
              <a:t>• Trend Detection: Identification of trending topics and hashtags using frequency analysis.</a:t>
            </a:r>
          </a:p>
          <a:p>
            <a:pPr algn="just">
              <a:lnSpc>
                <a:spcPts val="4049"/>
              </a:lnSpc>
            </a:pPr>
            <a:r>
              <a:rPr lang="en-US" sz="2699">
                <a:solidFill>
                  <a:srgbClr val="002B58"/>
                </a:solidFill>
                <a:latin typeface="DM Sans"/>
                <a:ea typeface="DM Sans"/>
                <a:cs typeface="DM Sans"/>
                <a:sym typeface="DM Sans"/>
              </a:rPr>
              <a:t>• Sentiment Analysis: Classification of user opinions into positive, negative, and neutral categories.</a:t>
            </a:r>
          </a:p>
          <a:p>
            <a:pPr algn="just">
              <a:lnSpc>
                <a:spcPts val="4049"/>
              </a:lnSpc>
            </a:pPr>
            <a:r>
              <a:rPr lang="en-US" sz="2699">
                <a:solidFill>
                  <a:srgbClr val="002B58"/>
                </a:solidFill>
                <a:latin typeface="DM Sans"/>
                <a:ea typeface="DM Sans"/>
                <a:cs typeface="DM Sans"/>
                <a:sym typeface="DM Sans"/>
              </a:rPr>
              <a:t>• Scalable Architecture: Distributed processing using PySpark for handling large volumes of data efficiently.</a:t>
            </a:r>
          </a:p>
          <a:p>
            <a:pPr algn="just">
              <a:lnSpc>
                <a:spcPts val="4049"/>
              </a:lnSpc>
            </a:pPr>
            <a:r>
              <a:rPr lang="en-US" sz="2699">
                <a:solidFill>
                  <a:srgbClr val="002B58"/>
                </a:solidFill>
                <a:latin typeface="DM Sans"/>
                <a:ea typeface="DM Sans"/>
                <a:cs typeface="DM Sans"/>
                <a:sym typeface="DM Sans"/>
              </a:rPr>
              <a:t>• Data Visualization: Graphs and charts to present trends and insights clearly.</a:t>
            </a:r>
          </a:p>
          <a:p>
            <a:pPr algn="just">
              <a:lnSpc>
                <a:spcPts val="4049"/>
              </a:lnSpc>
            </a:pPr>
          </a:p>
          <a:p>
            <a:pPr algn="just">
              <a:lnSpc>
                <a:spcPts val="329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97069"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04296" y="1639858"/>
            <a:ext cx="10907320" cy="779492"/>
          </a:xfrm>
          <a:prstGeom prst="rect">
            <a:avLst/>
          </a:prstGeom>
        </p:spPr>
        <p:txBody>
          <a:bodyPr anchor="t" rtlCol="false" tIns="0" lIns="0" bIns="0" rIns="0">
            <a:spAutoFit/>
          </a:bodyPr>
          <a:lstStyle/>
          <a:p>
            <a:pPr algn="ctr">
              <a:lnSpc>
                <a:spcPts val="6385"/>
              </a:lnSpc>
            </a:pPr>
            <a:r>
              <a:rPr lang="en-US" b="true" sz="4561">
                <a:solidFill>
                  <a:srgbClr val="002B58"/>
                </a:solidFill>
                <a:latin typeface="Readex Pro Semi-Bold"/>
                <a:ea typeface="Readex Pro Semi-Bold"/>
                <a:cs typeface="Readex Pro Semi-Bold"/>
                <a:sym typeface="Readex Pro Semi-Bold"/>
              </a:rPr>
              <a:t>CONCLUSION</a:t>
            </a:r>
          </a:p>
        </p:txBody>
      </p:sp>
      <p:sp>
        <p:nvSpPr>
          <p:cNvPr name="TextBox 4" id="4"/>
          <p:cNvSpPr txBox="true"/>
          <p:nvPr/>
        </p:nvSpPr>
        <p:spPr>
          <a:xfrm rot="0">
            <a:off x="2627081" y="2590952"/>
            <a:ext cx="14632219" cy="7448551"/>
          </a:xfrm>
          <a:prstGeom prst="rect">
            <a:avLst/>
          </a:prstGeom>
        </p:spPr>
        <p:txBody>
          <a:bodyPr anchor="t" rtlCol="false" tIns="0" lIns="0" bIns="0" rIns="0">
            <a:spAutoFit/>
          </a:bodyPr>
          <a:lstStyle/>
          <a:p>
            <a:pPr algn="just">
              <a:lnSpc>
                <a:spcPts val="3749"/>
              </a:lnSpc>
            </a:pPr>
            <a:r>
              <a:rPr lang="en-US" sz="2499" b="true">
                <a:solidFill>
                  <a:srgbClr val="002B58"/>
                </a:solidFill>
                <a:latin typeface="DM Sans Bold"/>
                <a:ea typeface="DM Sans Bold"/>
                <a:cs typeface="DM Sans Bold"/>
                <a:sym typeface="DM Sans Bold"/>
              </a:rPr>
              <a:t>Benefits:</a:t>
            </a:r>
          </a:p>
          <a:p>
            <a:pPr algn="just">
              <a:lnSpc>
                <a:spcPts val="3749"/>
              </a:lnSpc>
            </a:pPr>
            <a:r>
              <a:rPr lang="en-US" sz="2499">
                <a:solidFill>
                  <a:srgbClr val="002B58"/>
                </a:solidFill>
                <a:latin typeface="DM Sans"/>
                <a:ea typeface="DM Sans"/>
                <a:cs typeface="DM Sans"/>
                <a:sym typeface="DM Sans"/>
              </a:rPr>
              <a:t>• Faster Decision-Making: Enables organizations to respond quickly to emerging trends and public opinions.</a:t>
            </a:r>
          </a:p>
          <a:p>
            <a:pPr algn="just">
              <a:lnSpc>
                <a:spcPts val="3749"/>
              </a:lnSpc>
            </a:pPr>
            <a:r>
              <a:rPr lang="en-US" sz="2499">
                <a:solidFill>
                  <a:srgbClr val="002B58"/>
                </a:solidFill>
                <a:latin typeface="DM Sans"/>
                <a:ea typeface="DM Sans"/>
                <a:cs typeface="DM Sans"/>
                <a:sym typeface="DM Sans"/>
              </a:rPr>
              <a:t>• Improved Business Intelligence: Provides meaningful insights from unstructured social media data.</a:t>
            </a:r>
          </a:p>
          <a:p>
            <a:pPr algn="just">
              <a:lnSpc>
                <a:spcPts val="3749"/>
              </a:lnSpc>
            </a:pPr>
            <a:r>
              <a:rPr lang="en-US" sz="2499">
                <a:solidFill>
                  <a:srgbClr val="002B58"/>
                </a:solidFill>
                <a:latin typeface="DM Sans"/>
                <a:ea typeface="DM Sans"/>
                <a:cs typeface="DM Sans"/>
                <a:sym typeface="DM Sans"/>
              </a:rPr>
              <a:t>• Automation: Reduces manual effort by automating data collection, processing, and analysis.</a:t>
            </a:r>
          </a:p>
          <a:p>
            <a:pPr algn="just">
              <a:lnSpc>
                <a:spcPts val="3749"/>
              </a:lnSpc>
            </a:pPr>
            <a:r>
              <a:rPr lang="en-US" sz="2499">
                <a:solidFill>
                  <a:srgbClr val="002B58"/>
                </a:solidFill>
                <a:latin typeface="DM Sans"/>
                <a:ea typeface="DM Sans"/>
                <a:cs typeface="DM Sans"/>
                <a:sym typeface="DM Sans"/>
              </a:rPr>
              <a:t>• Real-Time Monitoring: Helps track ongoing events, campaigns, and user engagement effectively.</a:t>
            </a:r>
          </a:p>
          <a:p>
            <a:pPr algn="just">
              <a:lnSpc>
                <a:spcPts val="3749"/>
              </a:lnSpc>
            </a:pPr>
            <a:r>
              <a:rPr lang="en-US" sz="2499" b="true">
                <a:solidFill>
                  <a:srgbClr val="002B58"/>
                </a:solidFill>
                <a:latin typeface="DM Sans Bold"/>
                <a:ea typeface="DM Sans Bold"/>
                <a:cs typeface="DM Sans Bold"/>
                <a:sym typeface="DM Sans Bold"/>
              </a:rPr>
              <a:t>Replicability:</a:t>
            </a:r>
          </a:p>
          <a:p>
            <a:pPr algn="just">
              <a:lnSpc>
                <a:spcPts val="3749"/>
              </a:lnSpc>
            </a:pPr>
            <a:r>
              <a:rPr lang="en-US" sz="2499">
                <a:solidFill>
                  <a:srgbClr val="002B58"/>
                </a:solidFill>
                <a:latin typeface="DM Sans"/>
                <a:ea typeface="DM Sans"/>
                <a:cs typeface="DM Sans"/>
                <a:sym typeface="DM Sans"/>
              </a:rPr>
              <a:t>• The system’s modular architecture allows easy adaptation across domains such as marketing, public opinion analysis, crisis management, and business intelligence by modifying data sources and analytical models.</a:t>
            </a:r>
          </a:p>
          <a:p>
            <a:pPr algn="just">
              <a:lnSpc>
                <a:spcPts val="3749"/>
              </a:lnSpc>
            </a:pPr>
            <a:r>
              <a:rPr lang="en-US" sz="2499" b="true">
                <a:solidFill>
                  <a:srgbClr val="002B58"/>
                </a:solidFill>
                <a:latin typeface="DM Sans Bold"/>
                <a:ea typeface="DM Sans Bold"/>
                <a:cs typeface="DM Sans Bold"/>
                <a:sym typeface="DM Sans Bold"/>
              </a:rPr>
              <a:t>Data Governance:</a:t>
            </a:r>
          </a:p>
          <a:p>
            <a:pPr algn="just">
              <a:lnSpc>
                <a:spcPts val="3749"/>
              </a:lnSpc>
            </a:pPr>
            <a:r>
              <a:rPr lang="en-US" sz="2499">
                <a:solidFill>
                  <a:srgbClr val="002B58"/>
                </a:solidFill>
                <a:latin typeface="DM Sans"/>
                <a:ea typeface="DM Sans"/>
                <a:cs typeface="DM Sans"/>
                <a:sym typeface="DM Sans"/>
              </a:rPr>
              <a:t>• Ensures secure handling of data through controlled access, proper data storage, and basic privacy measures. The system can be extended with advanced security features such as encryption, authentication, and compliance with data protection standards.</a:t>
            </a:r>
          </a:p>
          <a:p>
            <a:pPr algn="just">
              <a:lnSpc>
                <a:spcPts val="3749"/>
              </a:lnSpc>
            </a:pPr>
          </a:p>
          <a:p>
            <a:pPr algn="just">
              <a:lnSpc>
                <a:spcPts val="374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333182"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324862" y="1639858"/>
            <a:ext cx="10907320" cy="779492"/>
          </a:xfrm>
          <a:prstGeom prst="rect">
            <a:avLst/>
          </a:prstGeom>
        </p:spPr>
        <p:txBody>
          <a:bodyPr anchor="t" rtlCol="false" tIns="0" lIns="0" bIns="0" rIns="0">
            <a:spAutoFit/>
          </a:bodyPr>
          <a:lstStyle/>
          <a:p>
            <a:pPr algn="ctr">
              <a:lnSpc>
                <a:spcPts val="6385"/>
              </a:lnSpc>
            </a:pPr>
            <a:r>
              <a:rPr lang="en-US" b="true" sz="4561">
                <a:solidFill>
                  <a:srgbClr val="002B58"/>
                </a:solidFill>
                <a:latin typeface="Readex Pro Semi-Bold"/>
                <a:ea typeface="Readex Pro Semi-Bold"/>
                <a:cs typeface="Readex Pro Semi-Bold"/>
                <a:sym typeface="Readex Pro Semi-Bold"/>
              </a:rPr>
              <a:t>FUTURE ENHANCEMENTS</a:t>
            </a:r>
          </a:p>
        </p:txBody>
      </p:sp>
      <p:sp>
        <p:nvSpPr>
          <p:cNvPr name="TextBox 4" id="4"/>
          <p:cNvSpPr txBox="true"/>
          <p:nvPr/>
        </p:nvSpPr>
        <p:spPr>
          <a:xfrm rot="0">
            <a:off x="2835211" y="2352675"/>
            <a:ext cx="14113795" cy="7189287"/>
          </a:xfrm>
          <a:prstGeom prst="rect">
            <a:avLst/>
          </a:prstGeom>
        </p:spPr>
        <p:txBody>
          <a:bodyPr anchor="t" rtlCol="false" tIns="0" lIns="0" bIns="0" rIns="0">
            <a:spAutoFit/>
          </a:bodyPr>
          <a:lstStyle/>
          <a:p>
            <a:pPr algn="just">
              <a:lnSpc>
                <a:spcPts val="3899"/>
              </a:lnSpc>
            </a:pPr>
            <a:r>
              <a:rPr lang="en-US" sz="2599">
                <a:solidFill>
                  <a:srgbClr val="002B58"/>
                </a:solidFill>
                <a:latin typeface="DM Sans"/>
                <a:ea typeface="DM Sans"/>
                <a:cs typeface="DM Sans"/>
                <a:sym typeface="DM Sans"/>
              </a:rPr>
              <a:t>1</a:t>
            </a:r>
            <a:r>
              <a:rPr lang="en-US" sz="2599" b="true">
                <a:solidFill>
                  <a:srgbClr val="002B58"/>
                </a:solidFill>
                <a:latin typeface="DM Sans Bold"/>
                <a:ea typeface="DM Sans Bold"/>
                <a:cs typeface="DM Sans Bold"/>
                <a:sym typeface="DM Sans Bold"/>
              </a:rPr>
              <a:t>. Advanced Machine Learning Integration</a:t>
            </a:r>
          </a:p>
          <a:p>
            <a:pPr algn="just">
              <a:lnSpc>
                <a:spcPts val="3899"/>
              </a:lnSpc>
            </a:pPr>
            <a:r>
              <a:rPr lang="en-US" sz="2599">
                <a:solidFill>
                  <a:srgbClr val="002B58"/>
                </a:solidFill>
                <a:latin typeface="DM Sans"/>
                <a:ea typeface="DM Sans"/>
                <a:cs typeface="DM Sans"/>
                <a:sym typeface="DM Sans"/>
              </a:rPr>
              <a:t>The current system uses basic sentiment analysis techniques, which can be enhanced using deep learning models such as LSTM, BERT, or transformer-based architectures. These models can better understand context, sarcasm, and complex language patterns, leading to higher accuracy.</a:t>
            </a:r>
          </a:p>
          <a:p>
            <a:pPr algn="just">
              <a:lnSpc>
                <a:spcPts val="3899"/>
              </a:lnSpc>
            </a:pPr>
            <a:r>
              <a:rPr lang="en-US" sz="2599" b="true">
                <a:solidFill>
                  <a:srgbClr val="002B58"/>
                </a:solidFill>
                <a:latin typeface="DM Sans Bold"/>
                <a:ea typeface="DM Sans Bold"/>
                <a:cs typeface="DM Sans Bold"/>
                <a:sym typeface="DM Sans Bold"/>
              </a:rPr>
              <a:t>2. Real-Time Interactive Dashboards</a:t>
            </a:r>
          </a:p>
          <a:p>
            <a:pPr algn="just">
              <a:lnSpc>
                <a:spcPts val="3899"/>
              </a:lnSpc>
            </a:pPr>
            <a:r>
              <a:rPr lang="en-US" sz="2599">
                <a:solidFill>
                  <a:srgbClr val="002B58"/>
                </a:solidFill>
                <a:latin typeface="DM Sans"/>
                <a:ea typeface="DM Sans"/>
                <a:cs typeface="DM Sans"/>
                <a:sym typeface="DM Sans"/>
              </a:rPr>
              <a:t>The visualization layer can be upgraded using tools like Power BI, Tableau, or web-based dashboards. This would allow users to interact with data, apply filters, and monitor trends dynamically in real time.</a:t>
            </a:r>
          </a:p>
          <a:p>
            <a:pPr algn="just">
              <a:lnSpc>
                <a:spcPts val="3899"/>
              </a:lnSpc>
            </a:pPr>
            <a:r>
              <a:rPr lang="en-US" sz="2599" b="true">
                <a:solidFill>
                  <a:srgbClr val="002B58"/>
                </a:solidFill>
                <a:latin typeface="DM Sans Bold"/>
                <a:ea typeface="DM Sans Bold"/>
                <a:cs typeface="DM Sans Bold"/>
                <a:sym typeface="DM Sans Bold"/>
              </a:rPr>
              <a:t>3. Multilingual Support</a:t>
            </a:r>
          </a:p>
          <a:p>
            <a:pPr algn="just">
              <a:lnSpc>
                <a:spcPts val="3899"/>
              </a:lnSpc>
            </a:pPr>
            <a:r>
              <a:rPr lang="en-US" sz="2599">
                <a:solidFill>
                  <a:srgbClr val="002B58"/>
                </a:solidFill>
                <a:latin typeface="DM Sans"/>
                <a:ea typeface="DM Sans"/>
                <a:cs typeface="DM Sans"/>
                <a:sym typeface="DM Sans"/>
              </a:rPr>
              <a:t>Social media data is highly diverse and multilingual. Extending the system to support multiple languages using advanced NLP techniques would make the system more globally applicable and improve inclusivity.</a:t>
            </a:r>
          </a:p>
          <a:p>
            <a:pPr algn="just">
              <a:lnSpc>
                <a:spcPts val="3899"/>
              </a:lnSpc>
            </a:pPr>
          </a:p>
          <a:p>
            <a:pPr algn="just">
              <a:lnSpc>
                <a:spcPts val="317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3ED"/>
        </a:solidFill>
      </p:bgPr>
    </p:bg>
    <p:spTree>
      <p:nvGrpSpPr>
        <p:cNvPr id="1" name=""/>
        <p:cNvGrpSpPr/>
        <p:nvPr/>
      </p:nvGrpSpPr>
      <p:grpSpPr>
        <a:xfrm>
          <a:off x="0" y="0"/>
          <a:ext cx="0" cy="0"/>
          <a:chOff x="0" y="0"/>
          <a:chExt cx="0" cy="0"/>
        </a:xfrm>
      </p:grpSpPr>
      <p:sp>
        <p:nvSpPr>
          <p:cNvPr name="Freeform 2" id="2"/>
          <p:cNvSpPr/>
          <p:nvPr/>
        </p:nvSpPr>
        <p:spPr>
          <a:xfrm flipH="false" flipV="true" rot="0">
            <a:off x="-1014412" y="-304800"/>
            <a:ext cx="5448300" cy="5448300"/>
          </a:xfrm>
          <a:custGeom>
            <a:avLst/>
            <a:gdLst/>
            <a:ahLst/>
            <a:cxnLst/>
            <a:rect r="r" b="b" t="t" l="l"/>
            <a:pathLst>
              <a:path h="5448300" w="5448300">
                <a:moveTo>
                  <a:pt x="0" y="5448300"/>
                </a:moveTo>
                <a:lnTo>
                  <a:pt x="5448300" y="5448300"/>
                </a:lnTo>
                <a:lnTo>
                  <a:pt x="5448300" y="0"/>
                </a:lnTo>
                <a:lnTo>
                  <a:pt x="0" y="0"/>
                </a:lnTo>
                <a:lnTo>
                  <a:pt x="0" y="54483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3854112" y="5143500"/>
            <a:ext cx="5448300" cy="5448300"/>
          </a:xfrm>
          <a:custGeom>
            <a:avLst/>
            <a:gdLst/>
            <a:ahLst/>
            <a:cxnLst/>
            <a:rect r="r" b="b" t="t" l="l"/>
            <a:pathLst>
              <a:path h="5448300" w="5448300">
                <a:moveTo>
                  <a:pt x="5448300" y="0"/>
                </a:moveTo>
                <a:lnTo>
                  <a:pt x="0" y="0"/>
                </a:lnTo>
                <a:lnTo>
                  <a:pt x="0" y="5448300"/>
                </a:lnTo>
                <a:lnTo>
                  <a:pt x="5448300" y="5448300"/>
                </a:lnTo>
                <a:lnTo>
                  <a:pt x="54483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610206" y="7472290"/>
            <a:ext cx="836989" cy="2209944"/>
          </a:xfrm>
          <a:custGeom>
            <a:avLst/>
            <a:gdLst/>
            <a:ahLst/>
            <a:cxnLst/>
            <a:rect r="r" b="b" t="t" l="l"/>
            <a:pathLst>
              <a:path h="2209944" w="836989">
                <a:moveTo>
                  <a:pt x="0" y="0"/>
                </a:moveTo>
                <a:lnTo>
                  <a:pt x="836988" y="0"/>
                </a:lnTo>
                <a:lnTo>
                  <a:pt x="836988" y="2209945"/>
                </a:lnTo>
                <a:lnTo>
                  <a:pt x="0" y="22099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840806" y="604765"/>
            <a:ext cx="836989" cy="2209944"/>
          </a:xfrm>
          <a:custGeom>
            <a:avLst/>
            <a:gdLst/>
            <a:ahLst/>
            <a:cxnLst/>
            <a:rect r="r" b="b" t="t" l="l"/>
            <a:pathLst>
              <a:path h="2209944" w="836989">
                <a:moveTo>
                  <a:pt x="0" y="0"/>
                </a:moveTo>
                <a:lnTo>
                  <a:pt x="836988" y="0"/>
                </a:lnTo>
                <a:lnTo>
                  <a:pt x="836988" y="2209945"/>
                </a:lnTo>
                <a:lnTo>
                  <a:pt x="0" y="220994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470972" y="3812072"/>
            <a:ext cx="13346055" cy="2872407"/>
          </a:xfrm>
          <a:prstGeom prst="rect">
            <a:avLst/>
          </a:prstGeom>
        </p:spPr>
        <p:txBody>
          <a:bodyPr anchor="t" rtlCol="false" tIns="0" lIns="0" bIns="0" rIns="0">
            <a:spAutoFit/>
          </a:bodyPr>
          <a:lstStyle/>
          <a:p>
            <a:pPr algn="ctr">
              <a:lnSpc>
                <a:spcPts val="11086"/>
              </a:lnSpc>
            </a:pPr>
            <a:r>
              <a:rPr lang="en-US" b="true" sz="11086">
                <a:solidFill>
                  <a:srgbClr val="002B58"/>
                </a:solidFill>
                <a:latin typeface="Readex Pro Semi-Bold"/>
                <a:ea typeface="Readex Pro Semi-Bold"/>
                <a:cs typeface="Readex Pro Semi-Bold"/>
                <a:sym typeface="Readex Pro Semi-Bold"/>
              </a:rPr>
              <a:t>THANK</a:t>
            </a:r>
          </a:p>
          <a:p>
            <a:pPr algn="ctr">
              <a:lnSpc>
                <a:spcPts val="11086"/>
              </a:lnSpc>
            </a:pPr>
            <a:r>
              <a:rPr lang="en-US" b="true" sz="11086">
                <a:solidFill>
                  <a:srgbClr val="002B58"/>
                </a:solidFill>
                <a:latin typeface="Readex Pro Semi-Bold"/>
                <a:ea typeface="Readex Pro Semi-Bold"/>
                <a:cs typeface="Readex Pro Semi-Bold"/>
                <a:sym typeface="Readex Pro Semi-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DAHH7wJDtpQ</dc:identifier>
  <dcterms:modified xsi:type="dcterms:W3CDTF">2011-08-01T06:04:30Z</dcterms:modified>
  <cp:revision>1</cp:revision>
  <dc:title>BDA GLOB PPT</dc:title>
</cp:coreProperties>
</file>